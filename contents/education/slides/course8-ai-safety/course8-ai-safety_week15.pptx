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63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011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맑은 고딕"/>
              </a:defRPr>
            </a:pPr>
            <a:r>
              <a:t>Week 15: 기말 - AI 모델 종합 보안 평가 프로젝트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96D6"/>
                </a:solidFill>
                <a:latin typeface="맑은 고딕"/>
              </a:defRPr>
            </a:pPr>
            <a:r>
              <a:t>📌 학습 목표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14주간 학습한 AI Safety 전체 지식을 종합 적용한다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대상 모델에 대한 체계적 보안 평가를 수행한다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전문적인 AI Safety 평가 보고서를 작성한다</a:t>
            </a:r>
          </a:p>
          <a:p>
            <a:pPr>
              <a:spcAft>
                <a:spcPts val="1200"/>
              </a:spcAft>
              <a:defRPr sz="1800">
                <a:solidFill>
                  <a:srgbClr val="333333"/>
                </a:solidFill>
                <a:latin typeface="맑은 고딕"/>
              </a:defRPr>
            </a:pPr>
            <a:r>
              <a:t>✅  발견된 취약점에 대한 실현 가능한 방어 방안을 제시한다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1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맑은 고딕"/>
              </a:defRPr>
            </a:pPr>
            <a:r>
              <a:t>1. 기말 프로젝트 개요 (10분)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2. Phase 1: 평가 계획 수립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안전 정렬 (탈옥, 유해 콘텐츠)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프롬프트 보안 (인젝션, 시스템 프롬프트 추출)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에이전트 보안 (Tool 남용, 권한 상승)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datetime import datetime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plan = f"""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AI Safety 종합 평가 계획서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================================================================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일시: {datetime.now().strftime('%Y-%m-%d')}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대상: gemma3:12b + OpsClaw Agent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방법론: OWASP LLM Top 10 + MITRE ATLAS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평가자: (학번/이름)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평가 범위: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1. 안전 정렬 (탈옥, 유해 콘텐츠)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3. Phase 2: 안전 정렬 평가 (30분)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query(prompt, system=""):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msgs = []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if system: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msgs.append({"role": "system", "content": system})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msgs.append({"role": "user", "content": prompt})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json.dumps({"model": "gemma3:12b", "messages": msgs, "temperature": 0.3}).encode()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req = urllib.request.Request(OLLAMA, data=data, hea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4. Phase 3: 프롬프트 보안 평가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query(system, user):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json.dumps({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"messages": [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{"role": "system", "content": system},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    {"role": "user", "content": user}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}).encode()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5. Phase 4: 에이전트 보안 평가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export OPSCLAW_API_KEY=opsclaw-api-key-2026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echo "=== 에이전트 보안 평가 ==="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# 프로젝트 생성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PROJECT=$(curl -s -X POST http://localhost:8000/projects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"Content-Type: application/json"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-H "X-API-Key: $OPSCLAW_API_KEY" \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-d '{"name":"ai-safety-final","request_text":"AI Safety 기말 평가","master_mode":"external"}')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PID=$(echo "$PROJECT" | python3 -c "import json,sys; print(json.load(sys.stdin)['id'])")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curl -s -X POST "http://localhost:8000/projects/$PID/plan" -H "X-API-Key: $OPSCLAW_API_KEY" &gt; /dev/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6. Phase 5: 강건성 / 편향 평가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import json, urllib.request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OLLAMA = "http://192.168.0.105:11434/v1/chat/completions"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def query(prompt):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data = json.dumps({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"model": "gemma3:12b",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"messages": [{"role": "user", "content": prompt}],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"temperature": 0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}).encode()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req = urllib.request.Request(OLLAMA, data=data, headers={"Content-Type": "application/json"})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try: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   resp = urllib.request.urlopen(r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7. Phase 6: 보고서 작성 (40분)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평가 개요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결과 요약</a:t>
            </a:r>
          </a:p>
          <a:p>
            <a:pPr>
              <a:defRPr sz="1400">
                <a:solidFill>
                  <a:srgbClr val="333333"/>
                </a:solidFill>
                <a:latin typeface="맑은 고딕"/>
              </a:defRPr>
            </a:pPr>
            <a:r>
              <a:t>•  상세 발견사항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468880"/>
            <a:ext cx="10972800" cy="41148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sshpass -p1 ssh -o StrictHostKeyChecking=no user@10.20.30.80 &lt;&lt; 'ENDSSH'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python3 &lt;&lt; 'PYEOF'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from datetime import datetime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report = f"""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{'='*70}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  AI Safety 종합 보안 평가 보고서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{'='*70}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1. 평가 개요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대상: gemma3:12b + OpsClaw Agent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일시: {datetime.now().strftime('%Y-%m-%d %H:%M')}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방법론: OWASP LLM Top 10 + MITRE ATLAS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   도구: curl, Python, OpsClaw API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B263B"/>
                </a:solidFill>
                <a:latin typeface="맑은 고딕"/>
              </a:defRPr>
            </a:pPr>
            <a:r>
              <a:t>8. Phase 7: 발표 / 리뷰 (20분)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solidFill>
            <a:srgbClr val="1E1E2E"/>
          </a:solidFill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01-03: 기초       -&gt; AI Safety 개론, 프롬프트 인젝션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04:    탈옥       -&gt; DAN, 역할극, 다국어 우회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05:    가드레일   -&gt; Constitutional AI, 필터링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06:    적대적     -&gt; Adversarial Inputs, 강건성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07:    데이터     -&gt; Data Poisoning, 백도어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08:    중간고사   -&gt; LLM 취약점 평가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09:    모델 보안  -&gt; 추출, 멤버십 추론, 워터마킹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10:    에이전트   -&gt; Tool 남용, 권한 상승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11:    RAG 보안   -&gt; 지식 오염, 문서 인젝션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12:    윤리/규제  -&gt; EU AI Act, NIST AI RMF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13:    Red Team   -&gt; 체계적 평가, OWASP/ATLAS</a:t>
            </a:r>
          </a:p>
          <a:p>
            <a:pPr>
              <a:defRPr sz="1100">
                <a:solidFill>
                  <a:srgbClr val="A6E22E"/>
                </a:solidFill>
                <a:latin typeface="Consolas"/>
              </a:defRPr>
            </a:pPr>
            <a:r>
              <a:t>Week 14:    벤치마크   -&gt; CyberSecEval, Har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263B"/>
                </a:solidFill>
                <a:latin typeface="맑은 고딕"/>
              </a:defRPr>
            </a:pPr>
            <a:r>
              <a:t>핵심 정리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1005840"/>
            <a:ext cx="10972800" cy="25400"/>
          </a:xfrm>
          <a:prstGeom prst="rect">
            <a:avLst/>
          </a:prstGeom>
          <a:solidFill>
            <a:srgbClr val="0096D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Safety는 안전 정렬, 프롬프트 보안, 에이전트 보안, 강건성, 윤리를 포괄한다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OWASP LLM Top 10과 MITRE ATLAS는 AI 보안 평가의 표준 프레임워크다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자동화 테스트로 반복 가능하고 정량적인 평가를 수행한다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발견사항에는 재현 가능한 프롬프트와 구체적 방어 방안이 필수다</a:t>
            </a:r>
          </a:p>
          <a:p>
            <a:pPr>
              <a:spcAft>
                <a:spcPts val="1000"/>
              </a:spcAft>
              <a:defRPr sz="1600">
                <a:solidFill>
                  <a:srgbClr val="333333"/>
                </a:solidFill>
                <a:latin typeface="맑은 고딕"/>
              </a:defRPr>
            </a:pPr>
            <a:r>
              <a:t>•  AI Safety는 기술(가드레일) + 프로세스(Red Teaming) + 규제(법률) 통합 접근이 필요하다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